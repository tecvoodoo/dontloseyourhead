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 showGuides="1">
      <p:cViewPr varScale="1">
        <p:scale>
          <a:sx n="93" d="100"/>
          <a:sy n="93" d="100"/>
        </p:scale>
        <p:origin x="462" y="30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9FA3B2-F4CA-E7E7-4F83-FCF0D14168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AA9D8A3-4F6A-2A50-696E-5A1EC68708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67CDB9-5EE5-BF86-7A36-ECA5043739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0D025A-F88F-4782-A69D-871CA637442B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98CAD4-A9C0-55D9-D6CD-B4039E1417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2AC862-B710-D42B-6F64-58E8D4EC01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3EA09-9076-4332-8339-BE931951B9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48836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DC0197-9130-FCE8-A56D-18F757953C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9C9FAC-E37D-AE8B-0D76-6F0BCFDB8E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EFED78-D30A-4984-3981-E9C6F88F06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0D025A-F88F-4782-A69D-871CA637442B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938ED6-6C48-53BB-5658-8581ACCB40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59A6FE-5766-6E75-050E-8DA55688CC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3EA09-9076-4332-8339-BE931951B9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77681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FBBA7A-E991-AD15-3DE8-139546646B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4AD946-69F4-484B-8374-E8111805A1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28402E-9D48-165E-7E8B-40E4737730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0D025A-F88F-4782-A69D-871CA637442B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EF7F34-FFC0-0C3A-DDC9-9CC5CE32DD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9B6CCC-BBD5-86D6-57E1-9F9025EC8E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3EA09-9076-4332-8339-BE931951B9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60010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CD24CE-79CD-8A42-178A-DD97F1E8B1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C7D5E3-A8AA-78B5-5E71-DD82D3AADC0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32ECEC8-2C52-EC3B-C8F3-00C1AA85F5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4370D8-534B-F703-963F-2D6F4F90DD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0D025A-F88F-4782-A69D-871CA637442B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D736DC-1FC9-B153-DC47-B5E2DCF7D2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01C25A-534F-9461-EF0F-7E96D48341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3EA09-9076-4332-8339-BE931951B9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98876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C12460-E884-2DA7-AF30-7094404367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F361E6-AE4A-FC06-F173-B306EF1422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B95368-EF06-BDC9-A442-7494AECED4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8B6B36A-1238-D51C-3DB9-2D2ADAB5575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93B658D-4888-301D-CF54-F66CBEADEB7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5523EDE-E37F-4494-2B84-EBD1C3439A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0D025A-F88F-4782-A69D-871CA637442B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3ABF0AA-E21D-DE8D-5E50-39B69338FB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6BAB33E-7D47-2039-FF79-50AF3F9B18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3EA09-9076-4332-8339-BE931951B9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46498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3FC948-034E-DD11-1A0F-990A78BBE9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EF1BC60-F016-FDC8-7EB9-53141EB07F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0D025A-F88F-4782-A69D-871CA637442B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FEA2313-BDDB-D118-A1F0-683F77FD05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5D290AA-B332-F2AF-F514-6908A09006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3EA09-9076-4332-8339-BE931951B9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87406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832CFD3-4A26-683D-75C4-18E5AE06DD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0D025A-F88F-4782-A69D-871CA637442B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A25BF74-8406-2584-AE2F-BF22251468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04896B-2A80-F023-1F26-B3F96962FA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3EA09-9076-4332-8339-BE931951B9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85257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58C071-9596-EFB1-7472-E2680E6E0A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CDEA66-5985-DEF2-45C9-3F4617441F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A44FDDF-33ED-7AD0-6107-FE86DD4A29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77B5F8-3EB9-97BF-7080-C41C955524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0D025A-F88F-4782-A69D-871CA637442B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51B49D-64E7-574F-2804-EE9569BC1B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062C93-C948-4BDE-EB52-8637FC6FF2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3EA09-9076-4332-8339-BE931951B9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93060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D147C1-8EA0-B3C8-3DAF-2258FF9250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6A8584B-B9F1-5CCA-6510-50827B2584F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6AE070-85D7-93E7-E28B-FC9E88BBC3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D6BAF6-2AB5-D228-B0A3-EAD8939D87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0D025A-F88F-4782-A69D-871CA637442B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EAD2FD-A052-DFE9-EEBD-E7D2C4AA34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624E43-1A1A-B1DC-D632-9DF7F9F42D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3EA09-9076-4332-8339-BE931951B9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73080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3EF519-BD61-BCB2-06E2-8BA8A82D9D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BFABA18-4D3A-D083-7BDB-4D70C785F8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CAD69E-BB08-3EA6-8098-0933B9625B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0D025A-F88F-4782-A69D-871CA637442B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F19410-7EBA-6A58-1F7C-3548F883FC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BC997E-66AE-0E38-1CD4-0154531E17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3EA09-9076-4332-8339-BE931951B9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91183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5BB2B73-0344-984E-6449-2AED6BBD53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BF831B7-B5F2-F5DA-5AB8-5B520EFC1B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FA5B23-EF77-F60D-B0C8-5F79C04246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0D025A-F88F-4782-A69D-871CA637442B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560B1B-F1CC-2E53-B032-E221EF608B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B08094-657E-1546-12FC-893066A73F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3EA09-9076-4332-8339-BE931951B9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20085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8FFA1ED-5A1A-BB4C-5F19-C4461166F1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7C3C56-970E-CAAC-7475-E2D27BB79A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4D94D5-E41D-98CA-9118-507CDE2E21C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A0D025A-F88F-4782-A69D-871CA637442B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E73794-07C2-5E32-42D3-224E1B9C16E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460A9D-EF39-3EBC-9B44-16C7433D183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343EA09-9076-4332-8339-BE931951B9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33780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emf"/><Relationship Id="rId5" Type="http://schemas.openxmlformats.org/officeDocument/2006/relationships/image" Target="../media/image4.png"/><Relationship Id="rId4" Type="http://schemas.openxmlformats.org/officeDocument/2006/relationships/image" Target="../media/image3.em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emf"/><Relationship Id="rId4" Type="http://schemas.openxmlformats.org/officeDocument/2006/relationships/image" Target="../media/image8.e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8FD7C6FE-E067-7403-9D70-6997F757103E}"/>
              </a:ext>
            </a:extLst>
          </p:cNvPr>
          <p:cNvGrpSpPr/>
          <p:nvPr/>
        </p:nvGrpSpPr>
        <p:grpSpPr>
          <a:xfrm>
            <a:off x="1497806" y="3067587"/>
            <a:ext cx="2066925" cy="3667125"/>
            <a:chOff x="1784920" y="2771454"/>
            <a:chExt cx="2066925" cy="3667125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6E241424-8FA3-3BA8-44A7-F2169D4409F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84920" y="2771454"/>
              <a:ext cx="2066925" cy="366712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75AF8253-72B3-D836-BCCA-DFA362E0C527}"/>
                </a:ext>
              </a:extLst>
            </p:cNvPr>
            <p:cNvGrpSpPr/>
            <p:nvPr/>
          </p:nvGrpSpPr>
          <p:grpSpPr>
            <a:xfrm>
              <a:off x="1803752" y="3704903"/>
              <a:ext cx="1296937" cy="628091"/>
              <a:chOff x="18832" y="942974"/>
              <a:chExt cx="1434354" cy="694764"/>
            </a:xfrm>
          </p:grpSpPr>
          <p:grpSp>
            <p:nvGrpSpPr>
              <p:cNvPr id="10" name="Group 9">
                <a:extLst>
                  <a:ext uri="{FF2B5EF4-FFF2-40B4-BE49-F238E27FC236}">
                    <a16:creationId xmlns:a16="http://schemas.microsoft.com/office/drawing/2014/main" id="{25FBE779-C257-18DB-3CB3-CE304C6AFF3B}"/>
                  </a:ext>
                </a:extLst>
              </p:cNvPr>
              <p:cNvGrpSpPr/>
              <p:nvPr/>
            </p:nvGrpSpPr>
            <p:grpSpPr>
              <a:xfrm>
                <a:off x="18832" y="942974"/>
                <a:ext cx="1434354" cy="694764"/>
                <a:chOff x="18832" y="942974"/>
                <a:chExt cx="1434354" cy="694764"/>
              </a:xfrm>
            </p:grpSpPr>
            <p:sp>
              <p:nvSpPr>
                <p:cNvPr id="12" name="Rectangle 11">
                  <a:extLst>
                    <a:ext uri="{FF2B5EF4-FFF2-40B4-BE49-F238E27FC236}">
                      <a16:creationId xmlns:a16="http://schemas.microsoft.com/office/drawing/2014/main" id="{1494B5AA-7D75-28EF-CC63-0E871D5B47A0}"/>
                    </a:ext>
                  </a:extLst>
                </p:cNvPr>
                <p:cNvSpPr/>
                <p:nvPr/>
              </p:nvSpPr>
              <p:spPr>
                <a:xfrm>
                  <a:off x="18832" y="942974"/>
                  <a:ext cx="1434354" cy="212911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>
                  <a:defPPr>
                    <a:defRPr lang="en-US"/>
                  </a:defPPr>
                  <a:lvl1pPr marL="0" indent="0" algn="l" defTabSz="914400" rtl="0" eaLnBrk="1" latinLnBrk="0" hangingPunct="1">
                    <a:defRPr sz="11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indent="0" algn="l" defTabSz="914400" rtl="0" eaLnBrk="1" latinLnBrk="0" hangingPunct="1">
                    <a:defRPr sz="11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indent="0" algn="l" defTabSz="914400" rtl="0" eaLnBrk="1" latinLnBrk="0" hangingPunct="1">
                    <a:defRPr sz="11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indent="0" algn="l" defTabSz="914400" rtl="0" eaLnBrk="1" latinLnBrk="0" hangingPunct="1">
                    <a:defRPr sz="11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indent="0" algn="l" defTabSz="914400" rtl="0" eaLnBrk="1" latinLnBrk="0" hangingPunct="1">
                    <a:defRPr sz="11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indent="0" algn="l" defTabSz="914400" rtl="0" eaLnBrk="1" latinLnBrk="0" hangingPunct="1">
                    <a:defRPr sz="11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indent="0" algn="l" defTabSz="914400" rtl="0" eaLnBrk="1" latinLnBrk="0" hangingPunct="1">
                    <a:defRPr sz="11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indent="0" algn="l" defTabSz="914400" rtl="0" eaLnBrk="1" latinLnBrk="0" hangingPunct="1">
                    <a:defRPr sz="11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indent="0" algn="l" defTabSz="914400" rtl="0" eaLnBrk="1" latinLnBrk="0" hangingPunct="1">
                    <a:defRPr sz="11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l"/>
                  <a:r>
                    <a:rPr lang="en-US" sz="1400">
                      <a:solidFill>
                        <a:schemeClr val="tx1"/>
                      </a:solidFill>
                    </a:rPr>
                    <a:t>ca</a:t>
                  </a:r>
                </a:p>
              </p:txBody>
            </p:sp>
            <p:sp>
              <p:nvSpPr>
                <p:cNvPr id="13" name="Rectangle 12">
                  <a:extLst>
                    <a:ext uri="{FF2B5EF4-FFF2-40B4-BE49-F238E27FC236}">
                      <a16:creationId xmlns:a16="http://schemas.microsoft.com/office/drawing/2014/main" id="{2164179B-7C80-2517-FCC4-CF9F58B5AA01}"/>
                    </a:ext>
                  </a:extLst>
                </p:cNvPr>
                <p:cNvSpPr/>
                <p:nvPr/>
              </p:nvSpPr>
              <p:spPr>
                <a:xfrm>
                  <a:off x="52451" y="1151403"/>
                  <a:ext cx="1367118" cy="486335"/>
                </a:xfrm>
                <a:prstGeom prst="rect">
                  <a:avLst/>
                </a:prstGeom>
                <a:solidFill>
                  <a:schemeClr val="bg2">
                    <a:lumMod val="90000"/>
                  </a:schemeClr>
                </a:solidFill>
                <a:ln w="3175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>
                  <a:defPPr>
                    <a:defRPr lang="en-US"/>
                  </a:defPPr>
                  <a:lvl1pPr marL="0" indent="0" algn="l" defTabSz="914400" rtl="0" eaLnBrk="1" latinLnBrk="0" hangingPunct="1">
                    <a:defRPr sz="11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indent="0" algn="l" defTabSz="914400" rtl="0" eaLnBrk="1" latinLnBrk="0" hangingPunct="1">
                    <a:defRPr sz="11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indent="0" algn="l" defTabSz="914400" rtl="0" eaLnBrk="1" latinLnBrk="0" hangingPunct="1">
                    <a:defRPr sz="11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indent="0" algn="l" defTabSz="914400" rtl="0" eaLnBrk="1" latinLnBrk="0" hangingPunct="1">
                    <a:defRPr sz="11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indent="0" algn="l" defTabSz="914400" rtl="0" eaLnBrk="1" latinLnBrk="0" hangingPunct="1">
                    <a:defRPr sz="11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indent="0" algn="l" defTabSz="914400" rtl="0" eaLnBrk="1" latinLnBrk="0" hangingPunct="1">
                    <a:defRPr sz="11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indent="0" algn="l" defTabSz="914400" rtl="0" eaLnBrk="1" latinLnBrk="0" hangingPunct="1">
                    <a:defRPr sz="11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indent="0" algn="l" defTabSz="914400" rtl="0" eaLnBrk="1" latinLnBrk="0" hangingPunct="1">
                    <a:defRPr sz="11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indent="0" algn="l" defTabSz="914400" rtl="0" eaLnBrk="1" latinLnBrk="0" hangingPunct="1">
                    <a:defRPr sz="11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l"/>
                  <a:endParaRPr lang="en-US" sz="1100">
                    <a:solidFill>
                      <a:schemeClr val="tx1"/>
                    </a:solidFill>
                  </a:endParaRPr>
                </a:p>
              </p:txBody>
            </p:sp>
          </p:grpSp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50662CBF-ECB4-230E-486E-063E6C570B7C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1" r="-29138" b="75534"/>
              <a:stretch>
                <a:fillRect/>
              </a:stretch>
            </p:blipFill>
            <p:spPr>
              <a:xfrm>
                <a:off x="115202" y="1162609"/>
                <a:ext cx="307043" cy="441512"/>
              </a:xfrm>
              <a:prstGeom prst="rect">
                <a:avLst/>
              </a:prstGeom>
            </p:spPr>
          </p:pic>
        </p:grp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6608E75-3F93-A3F3-53C7-50EF570596A9}"/>
              </a:ext>
            </a:extLst>
          </p:cNvPr>
          <p:cNvGrpSpPr/>
          <p:nvPr/>
        </p:nvGrpSpPr>
        <p:grpSpPr>
          <a:xfrm>
            <a:off x="5062537" y="3067587"/>
            <a:ext cx="2066925" cy="3667125"/>
            <a:chOff x="4194745" y="2771454"/>
            <a:chExt cx="2066925" cy="3667125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9CE0C221-3F38-F2EE-282C-B1068AEA838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194745" y="2771454"/>
              <a:ext cx="2066925" cy="366712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3936E4D5-16B7-3C81-E03D-4551420D797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194745" y="3923979"/>
              <a:ext cx="1310754" cy="640135"/>
            </a:xfrm>
            <a:prstGeom prst="rect">
              <a:avLst/>
            </a:prstGeom>
          </p:spPr>
        </p:pic>
      </p:grpSp>
      <p:pic>
        <p:nvPicPr>
          <p:cNvPr id="9" name="Picture 8">
            <a:extLst>
              <a:ext uri="{FF2B5EF4-FFF2-40B4-BE49-F238E27FC236}">
                <a16:creationId xmlns:a16="http://schemas.microsoft.com/office/drawing/2014/main" id="{21CB0241-62FA-6692-2002-3760F5FCEF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27268" y="3067587"/>
            <a:ext cx="2066925" cy="3667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4916F6F0-A265-94A6-B5E6-92DF3654A09C}"/>
              </a:ext>
            </a:extLst>
          </p:cNvPr>
          <p:cNvSpPr/>
          <p:nvPr/>
        </p:nvSpPr>
        <p:spPr>
          <a:xfrm>
            <a:off x="1534729" y="708919"/>
            <a:ext cx="2017695" cy="211647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rmAutofit fontScale="77500" lnSpcReduction="20000"/>
          </a:bodyPr>
          <a:lstStyle/>
          <a:p>
            <a:r>
              <a:rPr lang="en-US" dirty="0"/>
              <a:t>1. On new game: Player enters setup mode. </a:t>
            </a:r>
          </a:p>
          <a:p>
            <a:r>
              <a:rPr lang="en-US" dirty="0"/>
              <a:t>Player types 3 letter word in autocomplete block. First block’s list filters for only 3 letter words. . The “X” will clear out the current cell’s word up till setup mode is complete.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A76964F-EE8F-9AC9-EF54-F8D524BBD0D9}"/>
              </a:ext>
            </a:extLst>
          </p:cNvPr>
          <p:cNvSpPr/>
          <p:nvPr/>
        </p:nvSpPr>
        <p:spPr>
          <a:xfrm>
            <a:off x="5087153" y="708919"/>
            <a:ext cx="2017695" cy="211647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rmAutofit fontScale="85000" lnSpcReduction="20000"/>
          </a:bodyPr>
          <a:lstStyle/>
          <a:p>
            <a:r>
              <a:rPr lang="en-US" dirty="0"/>
              <a:t>2. Upon word completion: Word is loaded in all caps. Coordinate selection icon becomes active. Does not matter if player inputs lower or middle case. 4 word autocomplete filters for 4 letter words.</a:t>
            </a:r>
          </a:p>
          <a:p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7C1F059-D817-9C49-68BA-C330928179F2}"/>
              </a:ext>
            </a:extLst>
          </p:cNvPr>
          <p:cNvSpPr/>
          <p:nvPr/>
        </p:nvSpPr>
        <p:spPr>
          <a:xfrm>
            <a:off x="8639577" y="708919"/>
            <a:ext cx="2017695" cy="211647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rmAutofit/>
          </a:bodyPr>
          <a:lstStyle/>
          <a:p>
            <a:r>
              <a:rPr lang="en-US" dirty="0"/>
              <a:t>3. Once words are entered: Coordinate mode can be entered by selecting the coordinate icon for that cell.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41192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40000"/>
            <a:lumOff val="6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90758B2-4E23-B8AE-4133-CD7A42C2D6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7794C60F-BA79-8678-27F7-00CF8C9FF6B9}"/>
              </a:ext>
            </a:extLst>
          </p:cNvPr>
          <p:cNvSpPr/>
          <p:nvPr/>
        </p:nvSpPr>
        <p:spPr>
          <a:xfrm>
            <a:off x="834090" y="708919"/>
            <a:ext cx="2017695" cy="211647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rmAutofit/>
          </a:bodyPr>
          <a:lstStyle/>
          <a:p>
            <a:r>
              <a:rPr lang="en-US" dirty="0"/>
              <a:t>4. Player moves cursor over grid. Yellow indicates active cell and green shows possible positions for next letter.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4EFB7D0-6111-04C0-16AB-950DAFF4B36D}"/>
              </a:ext>
            </a:extLst>
          </p:cNvPr>
          <p:cNvSpPr/>
          <p:nvPr/>
        </p:nvSpPr>
        <p:spPr>
          <a:xfrm>
            <a:off x="3636645" y="708919"/>
            <a:ext cx="2017695" cy="211647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rmAutofit/>
          </a:bodyPr>
          <a:lstStyle/>
          <a:p>
            <a:r>
              <a:rPr lang="en-US" dirty="0"/>
              <a:t>5. Red blocks indicate the next letter cannot be completed.</a:t>
            </a:r>
          </a:p>
          <a:p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41AEDBB-B5E4-F5DF-439A-92EEA73B7BFB}"/>
              </a:ext>
            </a:extLst>
          </p:cNvPr>
          <p:cNvSpPr/>
          <p:nvPr/>
        </p:nvSpPr>
        <p:spPr>
          <a:xfrm>
            <a:off x="6488430" y="719195"/>
            <a:ext cx="2017695" cy="211647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rmAutofit/>
          </a:bodyPr>
          <a:lstStyle/>
          <a:p>
            <a:r>
              <a:rPr lang="en-US" dirty="0"/>
              <a:t>6. Red blocks change based on cursor position.</a:t>
            </a:r>
          </a:p>
          <a:p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16C3D26-3FC4-4570-936A-063FE9662D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4860" y="3026491"/>
            <a:ext cx="2066925" cy="3667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99F7313-692E-8BBE-7400-BC184B5CE1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6645" y="3026491"/>
            <a:ext cx="2066925" cy="3667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6287AB5-B8BD-FF06-BE5B-FF9973CA2F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88430" y="3026491"/>
            <a:ext cx="2066925" cy="3667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A2F44A42-007B-57B5-F8D0-A555A89642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40215" y="3026491"/>
            <a:ext cx="2066925" cy="3667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06B90567-1761-5FA8-E9BC-F6CD2C9F7256}"/>
              </a:ext>
            </a:extLst>
          </p:cNvPr>
          <p:cNvSpPr/>
          <p:nvPr/>
        </p:nvSpPr>
        <p:spPr>
          <a:xfrm>
            <a:off x="9340215" y="719195"/>
            <a:ext cx="2017695" cy="211647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rmAutofit/>
          </a:bodyPr>
          <a:lstStyle/>
          <a:p>
            <a:r>
              <a:rPr lang="en-US" dirty="0"/>
              <a:t>7. A left click in an active cell places the first letter in that cell.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60508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40000"/>
            <a:lumOff val="6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B1D0D66-7366-6A7F-AB66-9AAF8C1BA3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83D3341F-D962-B85C-D818-5458D6D5C2DB}"/>
              </a:ext>
            </a:extLst>
          </p:cNvPr>
          <p:cNvSpPr/>
          <p:nvPr/>
        </p:nvSpPr>
        <p:spPr>
          <a:xfrm>
            <a:off x="834090" y="708919"/>
            <a:ext cx="2017695" cy="211647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rmAutofit fontScale="85000" lnSpcReduction="10000"/>
          </a:bodyPr>
          <a:lstStyle/>
          <a:p>
            <a:r>
              <a:rPr lang="en-US" dirty="0"/>
              <a:t>8. After first letter is placed the active yellow cell represents the next letter and the green block indicates where the third letter can go based on active cell position.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9A846DE-5F04-8E50-9622-CFBA84416107}"/>
              </a:ext>
            </a:extLst>
          </p:cNvPr>
          <p:cNvSpPr/>
          <p:nvPr/>
        </p:nvSpPr>
        <p:spPr>
          <a:xfrm>
            <a:off x="3636645" y="708919"/>
            <a:ext cx="2017695" cy="211647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rmAutofit/>
          </a:bodyPr>
          <a:lstStyle/>
          <a:p>
            <a:r>
              <a:rPr lang="en-US" dirty="0"/>
              <a:t>9. Once the 2</a:t>
            </a:r>
            <a:r>
              <a:rPr lang="en-US" baseline="30000" dirty="0"/>
              <a:t>nd</a:t>
            </a:r>
            <a:r>
              <a:rPr lang="en-US" dirty="0"/>
              <a:t> letter is placed(left clicked) the rest of the letters fill in automatically.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8574101-BF46-EC26-C723-52A8C35F01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4090" y="3002997"/>
            <a:ext cx="2066925" cy="3667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349C694-907A-8B19-7C74-95C8984078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2029" y="3002996"/>
            <a:ext cx="2066925" cy="3667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9CE357B2-03B1-8745-8F34-1AD11CD2FBC2}"/>
              </a:ext>
            </a:extLst>
          </p:cNvPr>
          <p:cNvSpPr/>
          <p:nvPr/>
        </p:nvSpPr>
        <p:spPr>
          <a:xfrm>
            <a:off x="6439200" y="708919"/>
            <a:ext cx="2017695" cy="211647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rmAutofit/>
          </a:bodyPr>
          <a:lstStyle/>
          <a:p>
            <a:r>
              <a:rPr lang="en-US" dirty="0"/>
              <a:t>10. The coordinate icon in the top corner of the grid can be used to randomly place the entire word on </a:t>
            </a:r>
            <a:r>
              <a:rPr lang="en-US"/>
              <a:t>the grid.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77496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248</Words>
  <Application>Microsoft Office PowerPoint</Application>
  <PresentationFormat>Widescreen</PresentationFormat>
  <Paragraphs>12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Stephen Brandon</dc:creator>
  <cp:lastModifiedBy>Stephen Brandon</cp:lastModifiedBy>
  <cp:revision>1</cp:revision>
  <dcterms:created xsi:type="dcterms:W3CDTF">2025-11-24T04:10:25Z</dcterms:created>
  <dcterms:modified xsi:type="dcterms:W3CDTF">2025-11-24T04:48:01Z</dcterms:modified>
</cp:coreProperties>
</file>